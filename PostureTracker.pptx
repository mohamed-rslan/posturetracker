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6858000" cy="9144000"/>
  <p:embeddedFontLst>
    <p:embeddedFont>
      <p:font typeface="Poppins" panose="00000500000000000000" pitchFamily="2" charset="0"/>
      <p:regular r:id="rId23"/>
    </p:embeddedFont>
    <p:embeddedFont>
      <p:font typeface="Poppins Bold" panose="020B0604020202020204" charset="0"/>
      <p:regular r:id="rId24"/>
    </p:embeddedFont>
    <p:embeddedFont>
      <p:font typeface="Poppins Bold Italics" panose="020B0604020202020204" charset="0"/>
      <p:regular r:id="rId25"/>
    </p:embeddedFont>
    <p:embeddedFont>
      <p:font typeface="Poppins Italics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898" y="-4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>
                <a:alpha val="100000"/>
              </a:srgbClr>
            </a:gs>
            <a:gs pos="100000">
              <a:srgbClr val="C7C9FF">
                <a:alpha val="355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690916" y="-4375722"/>
            <a:ext cx="13131091" cy="13131091"/>
          </a:xfrm>
          <a:custGeom>
            <a:avLst/>
            <a:gdLst/>
            <a:ahLst/>
            <a:cxnLst/>
            <a:rect l="l" t="t" r="r" b="b"/>
            <a:pathLst>
              <a:path w="13131091" h="13131091">
                <a:moveTo>
                  <a:pt x="0" y="0"/>
                </a:moveTo>
                <a:lnTo>
                  <a:pt x="13131090" y="0"/>
                </a:lnTo>
                <a:lnTo>
                  <a:pt x="13131090" y="13131090"/>
                </a:lnTo>
                <a:lnTo>
                  <a:pt x="0" y="1313109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0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2763155" y="-3782186"/>
            <a:ext cx="10915318" cy="10915318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275415" y="-2294445"/>
            <a:ext cx="7939837" cy="793983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93843" y="6189021"/>
            <a:ext cx="4385302" cy="775403"/>
            <a:chOff x="0" y="0"/>
            <a:chExt cx="1200079" cy="21219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85264" y="1767614"/>
            <a:ext cx="11062439" cy="1921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928"/>
              </a:lnSpc>
            </a:pPr>
            <a:r>
              <a:rPr lang="en-US" sz="10663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264" y="3413142"/>
            <a:ext cx="8587763" cy="1744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21"/>
              </a:lnSpc>
            </a:pPr>
            <a:r>
              <a:rPr lang="en-US" sz="9657">
                <a:solidFill>
                  <a:srgbClr val="081269"/>
                </a:solidFill>
                <a:latin typeface="Poppins"/>
                <a:ea typeface="Poppins"/>
                <a:cs typeface="Poppins"/>
                <a:sym typeface="Poppins"/>
              </a:rPr>
              <a:t>Presentation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264" y="5328167"/>
            <a:ext cx="11724585" cy="619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64"/>
              </a:lnSpc>
            </a:pPr>
            <a:r>
              <a:rPr lang="en-US" sz="3402" i="1">
                <a:solidFill>
                  <a:srgbClr val="081269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“Transform your smartphone into a posture coach.”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5479" y="6173415"/>
            <a:ext cx="3062030" cy="692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21"/>
              </a:lnSpc>
            </a:pPr>
            <a:r>
              <a:rPr lang="en-US" sz="3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By team :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855767" y="6038891"/>
            <a:ext cx="10084731" cy="5432955"/>
            <a:chOff x="0" y="0"/>
            <a:chExt cx="2656061" cy="143090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56061" cy="1430902"/>
            </a:xfrm>
            <a:custGeom>
              <a:avLst/>
              <a:gdLst/>
              <a:ahLst/>
              <a:cxnLst/>
              <a:rect l="l" t="t" r="r" b="b"/>
              <a:pathLst>
                <a:path w="2656061" h="1430902">
                  <a:moveTo>
                    <a:pt x="23798" y="0"/>
                  </a:moveTo>
                  <a:lnTo>
                    <a:pt x="2632263" y="0"/>
                  </a:lnTo>
                  <a:cubicBezTo>
                    <a:pt x="2638574" y="0"/>
                    <a:pt x="2644628" y="2507"/>
                    <a:pt x="2649091" y="6970"/>
                  </a:cubicBezTo>
                  <a:cubicBezTo>
                    <a:pt x="2653554" y="11433"/>
                    <a:pt x="2656061" y="17487"/>
                    <a:pt x="2656061" y="23798"/>
                  </a:cubicBezTo>
                  <a:lnTo>
                    <a:pt x="2656061" y="1407103"/>
                  </a:lnTo>
                  <a:cubicBezTo>
                    <a:pt x="2656061" y="1413415"/>
                    <a:pt x="2653554" y="1419468"/>
                    <a:pt x="2649091" y="1423931"/>
                  </a:cubicBezTo>
                  <a:cubicBezTo>
                    <a:pt x="2644628" y="1428394"/>
                    <a:pt x="2638574" y="1430902"/>
                    <a:pt x="2632263" y="1430902"/>
                  </a:cubicBezTo>
                  <a:lnTo>
                    <a:pt x="23798" y="1430902"/>
                  </a:lnTo>
                  <a:cubicBezTo>
                    <a:pt x="17487" y="1430902"/>
                    <a:pt x="11433" y="1428394"/>
                    <a:pt x="6970" y="1423931"/>
                  </a:cubicBezTo>
                  <a:cubicBezTo>
                    <a:pt x="2507" y="1419468"/>
                    <a:pt x="0" y="1413415"/>
                    <a:pt x="0" y="1407103"/>
                  </a:cubicBezTo>
                  <a:lnTo>
                    <a:pt x="0" y="23798"/>
                  </a:lnTo>
                  <a:cubicBezTo>
                    <a:pt x="0" y="17487"/>
                    <a:pt x="2507" y="11433"/>
                    <a:pt x="6970" y="6970"/>
                  </a:cubicBezTo>
                  <a:cubicBezTo>
                    <a:pt x="11433" y="2507"/>
                    <a:pt x="17487" y="0"/>
                    <a:pt x="23798" y="0"/>
                  </a:cubicBezTo>
                  <a:close/>
                </a:path>
              </a:pathLst>
            </a:custGeom>
            <a:solidFill>
              <a:srgbClr val="F2EA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656061" cy="14690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253437" y="8252437"/>
            <a:ext cx="1005863" cy="1005863"/>
          </a:xfrm>
          <a:custGeom>
            <a:avLst/>
            <a:gdLst/>
            <a:ahLst/>
            <a:cxnLst/>
            <a:rect l="l" t="t" r="r" b="b"/>
            <a:pathLst>
              <a:path w="1005863" h="1005863">
                <a:moveTo>
                  <a:pt x="0" y="0"/>
                </a:moveTo>
                <a:lnTo>
                  <a:pt x="1005863" y="0"/>
                </a:lnTo>
                <a:lnTo>
                  <a:pt x="1005863" y="1005863"/>
                </a:lnTo>
                <a:lnTo>
                  <a:pt x="0" y="10058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532714"/>
            <a:ext cx="9975721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The Posture Crisis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3425013"/>
            <a:ext cx="9534437" cy="6410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80% of people will have posture-related back pain, according to ACA.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average person spends 10-12 hours daily in front of screens, often with poor posture.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Health Risks:</a:t>
            </a: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Chronic pain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30% reduced lung capacity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headaches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Long-term spinal degeneration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Decreased energy levels and productivity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12181437" y="2049895"/>
            <a:ext cx="5313787" cy="10514241"/>
            <a:chOff x="0" y="0"/>
            <a:chExt cx="2620010" cy="5184140"/>
          </a:xfrm>
        </p:grpSpPr>
        <p:sp>
          <p:nvSpPr>
            <p:cNvPr id="13" name="Freeform 13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85420" y="156210"/>
              <a:ext cx="2251710" cy="4876800"/>
            </a:xfrm>
            <a:custGeom>
              <a:avLst/>
              <a:gdLst/>
              <a:ahLst/>
              <a:cxnLst/>
              <a:rect l="l" t="t" r="r" b="b"/>
              <a:pathLst>
                <a:path w="2251710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142567" r="-14256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1578312" y="187909"/>
              <a:ext cx="66636" cy="63602"/>
            </a:xfrm>
            <a:custGeom>
              <a:avLst/>
              <a:gdLst/>
              <a:ahLst/>
              <a:cxnLst/>
              <a:rect l="l" t="t" r="r" b="b"/>
              <a:pathLst>
                <a:path w="66636" h="63602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66072" y="7857015"/>
            <a:ext cx="15419611" cy="1697488"/>
            <a:chOff x="0" y="0"/>
            <a:chExt cx="4061132" cy="4470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61132" cy="447075"/>
            </a:xfrm>
            <a:custGeom>
              <a:avLst/>
              <a:gdLst/>
              <a:ahLst/>
              <a:cxnLst/>
              <a:rect l="l" t="t" r="r" b="b"/>
              <a:pathLst>
                <a:path w="4061132" h="447075">
                  <a:moveTo>
                    <a:pt x="15565" y="0"/>
                  </a:moveTo>
                  <a:lnTo>
                    <a:pt x="4045567" y="0"/>
                  </a:lnTo>
                  <a:cubicBezTo>
                    <a:pt x="4054163" y="0"/>
                    <a:pt x="4061132" y="6968"/>
                    <a:pt x="4061132" y="15565"/>
                  </a:cubicBezTo>
                  <a:lnTo>
                    <a:pt x="4061132" y="431510"/>
                  </a:lnTo>
                  <a:cubicBezTo>
                    <a:pt x="4061132" y="440107"/>
                    <a:pt x="4054163" y="447075"/>
                    <a:pt x="4045567" y="447075"/>
                  </a:cubicBezTo>
                  <a:lnTo>
                    <a:pt x="15565" y="447075"/>
                  </a:lnTo>
                  <a:cubicBezTo>
                    <a:pt x="6968" y="447075"/>
                    <a:pt x="0" y="440107"/>
                    <a:pt x="0" y="431510"/>
                  </a:cubicBezTo>
                  <a:lnTo>
                    <a:pt x="0" y="15565"/>
                  </a:lnTo>
                  <a:cubicBezTo>
                    <a:pt x="0" y="6968"/>
                    <a:pt x="6968" y="0"/>
                    <a:pt x="15565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061132" cy="485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775877" y="3207105"/>
            <a:ext cx="12102391" cy="1210239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425414" y="4856641"/>
            <a:ext cx="8803317" cy="88033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1581505"/>
            <a:ext cx="12265511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The Monitoring Gap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3521430"/>
            <a:ext cx="6653152" cy="2676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Current solutions fail: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Expensive wearables ($100+).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Timers/sticky notes → ignored.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No real-time feedback.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028700" y="6112230"/>
            <a:ext cx="10007147" cy="160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PostureTracker’s USP: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AI + smartphone camera = accessible, accurate.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473338" y="8188680"/>
            <a:ext cx="14605078" cy="707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04"/>
              </a:lnSpc>
            </a:pPr>
            <a:r>
              <a:rPr lang="en-US" sz="4002" b="1" i="1">
                <a:solidFill>
                  <a:srgbClr val="F2EA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"So how does ‘PostureTracker’ solve this? Let’s dive in."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8324" y="-2562176"/>
            <a:ext cx="15411352" cy="15411352"/>
          </a:xfrm>
          <a:custGeom>
            <a:avLst/>
            <a:gdLst/>
            <a:ahLst/>
            <a:cxnLst/>
            <a:rect l="l" t="t" r="r" b="b"/>
            <a:pathLst>
              <a:path w="15411352" h="15411352">
                <a:moveTo>
                  <a:pt x="0" y="0"/>
                </a:moveTo>
                <a:lnTo>
                  <a:pt x="15411352" y="0"/>
                </a:lnTo>
                <a:lnTo>
                  <a:pt x="15411352" y="15411352"/>
                </a:lnTo>
                <a:lnTo>
                  <a:pt x="0" y="154113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3153041" y="-5621027"/>
            <a:ext cx="10764527" cy="1076452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2846538" y="-5621027"/>
            <a:ext cx="9531646" cy="9531646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255065" y="5604052"/>
            <a:ext cx="10399065" cy="10399065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533020" y="3338690"/>
            <a:ext cx="13221960" cy="4292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 Overview &amp; Technical Architecture</a:t>
            </a:r>
          </a:p>
          <a:p>
            <a:pPr algn="ctr">
              <a:lnSpc>
                <a:spcPts val="11200"/>
              </a:lnSpc>
            </a:pPr>
            <a:endParaRPr lang="en-US" sz="8000" b="1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253437" y="8252437"/>
            <a:ext cx="1005863" cy="1005863"/>
          </a:xfrm>
          <a:custGeom>
            <a:avLst/>
            <a:gdLst/>
            <a:ahLst/>
            <a:cxnLst/>
            <a:rect l="l" t="t" r="r" b="b"/>
            <a:pathLst>
              <a:path w="1005863" h="1005863">
                <a:moveTo>
                  <a:pt x="0" y="0"/>
                </a:moveTo>
                <a:lnTo>
                  <a:pt x="1005863" y="0"/>
                </a:lnTo>
                <a:lnTo>
                  <a:pt x="1005863" y="1005863"/>
                </a:lnTo>
                <a:lnTo>
                  <a:pt x="0" y="100586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1542984" y="229032"/>
            <a:ext cx="4968658" cy="9828935"/>
            <a:chOff x="0" y="0"/>
            <a:chExt cx="2620010" cy="5182870"/>
          </a:xfrm>
        </p:grpSpPr>
        <p:sp>
          <p:nvSpPr>
            <p:cNvPr id="7" name="Freeform 7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84149" y="153035"/>
              <a:ext cx="2251710" cy="4876800"/>
            </a:xfrm>
            <a:custGeom>
              <a:avLst/>
              <a:gdLst/>
              <a:ahLst/>
              <a:cxnLst/>
              <a:rect l="l" t="t" r="r" b="b"/>
              <a:pathLst>
                <a:path w="2251710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432" r="-432"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1578312" y="187909"/>
              <a:ext cx="66636" cy="63602"/>
            </a:xfrm>
            <a:custGeom>
              <a:avLst/>
              <a:gdLst/>
              <a:ahLst/>
              <a:cxnLst/>
              <a:rect l="l" t="t" r="r" b="b"/>
              <a:pathLst>
                <a:path w="66636" h="63602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28700" y="1532714"/>
            <a:ext cx="9975721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Core Concept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3187411"/>
            <a:ext cx="10772489" cy="534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Hardware-free solution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 (uses existing smartphone camera)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AI-powered detection with scientifically validated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      measurements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Real-time monitoring with customizable sensitivity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Multiple tracking modes for comprehensive analysis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Privacy-focused (all processing happens on-device)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Unobtrusive yet effective notification system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Technical Architecture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Platform Specifications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987091" y="761123"/>
            <a:ext cx="13131091" cy="13131091"/>
          </a:xfrm>
          <a:custGeom>
            <a:avLst/>
            <a:gdLst/>
            <a:ahLst/>
            <a:cxnLst/>
            <a:rect l="l" t="t" r="r" b="b"/>
            <a:pathLst>
              <a:path w="13131091" h="13131091">
                <a:moveTo>
                  <a:pt x="0" y="0"/>
                </a:moveTo>
                <a:lnTo>
                  <a:pt x="13131091" y="0"/>
                </a:lnTo>
                <a:lnTo>
                  <a:pt x="13131091" y="13131091"/>
                </a:lnTo>
                <a:lnTo>
                  <a:pt x="0" y="13131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0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1208105" y="-5372097"/>
            <a:ext cx="12102391" cy="1210239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857641" y="-3722560"/>
            <a:ext cx="8803317" cy="880331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666817"/>
            <a:ext cx="10181938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Stack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3482917"/>
            <a:ext cx="11626351" cy="5876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AI/ML Layer: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MediaPipe Pose Landmarker: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Heavy model for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accuracy (95%+).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Thresholds: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0.5F confidence score to filter false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detections.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Android Layer: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Kotlin Coroutines: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Async processing to avoid UI lag.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CameraX: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Handles camera compatibility across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1,000+ devices.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66072" y="8693505"/>
            <a:ext cx="15419611" cy="1335538"/>
            <a:chOff x="0" y="0"/>
            <a:chExt cx="4061132" cy="3517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61132" cy="351747"/>
            </a:xfrm>
            <a:custGeom>
              <a:avLst/>
              <a:gdLst/>
              <a:ahLst/>
              <a:cxnLst/>
              <a:rect l="l" t="t" r="r" b="b"/>
              <a:pathLst>
                <a:path w="4061132" h="351747">
                  <a:moveTo>
                    <a:pt x="15565" y="0"/>
                  </a:moveTo>
                  <a:lnTo>
                    <a:pt x="4045567" y="0"/>
                  </a:lnTo>
                  <a:cubicBezTo>
                    <a:pt x="4054163" y="0"/>
                    <a:pt x="4061132" y="6968"/>
                    <a:pt x="4061132" y="15565"/>
                  </a:cubicBezTo>
                  <a:lnTo>
                    <a:pt x="4061132" y="336182"/>
                  </a:lnTo>
                  <a:cubicBezTo>
                    <a:pt x="4061132" y="344778"/>
                    <a:pt x="4054163" y="351747"/>
                    <a:pt x="4045567" y="351747"/>
                  </a:cubicBezTo>
                  <a:lnTo>
                    <a:pt x="15565" y="351747"/>
                  </a:lnTo>
                  <a:cubicBezTo>
                    <a:pt x="6968" y="351747"/>
                    <a:pt x="0" y="344778"/>
                    <a:pt x="0" y="336182"/>
                  </a:cubicBezTo>
                  <a:lnTo>
                    <a:pt x="0" y="15565"/>
                  </a:lnTo>
                  <a:cubicBezTo>
                    <a:pt x="0" y="6968"/>
                    <a:pt x="6968" y="0"/>
                    <a:pt x="15565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061132" cy="3898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775877" y="3207105"/>
            <a:ext cx="12102391" cy="1210239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425414" y="4856641"/>
            <a:ext cx="8803317" cy="88033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1581505"/>
            <a:ext cx="12265511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Key Differentiators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3521430"/>
            <a:ext cx="13968914" cy="481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1. Dual Tracking Modes: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Upper Body Mode: Optimized for desk workers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(tracks head/shoulders).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Spine Mode: For standing/posture rehab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(tracks full spinal alignment).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2. Customizable Alerts: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Adjustable sensitivity (e.g., "Alert me after 10 sec of slouching").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Multimodal feedback (haptic + visual + voice optional).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69705" y="8954910"/>
            <a:ext cx="15012344" cy="707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04"/>
              </a:lnSpc>
            </a:pPr>
            <a:r>
              <a:rPr lang="en-US" sz="4002" b="1" i="1">
                <a:solidFill>
                  <a:srgbClr val="F2EA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"Now, let’s geek out on the AI’s posture detection magic."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8324" y="-2562176"/>
            <a:ext cx="15411352" cy="15411352"/>
          </a:xfrm>
          <a:custGeom>
            <a:avLst/>
            <a:gdLst/>
            <a:ahLst/>
            <a:cxnLst/>
            <a:rect l="l" t="t" r="r" b="b"/>
            <a:pathLst>
              <a:path w="15411352" h="15411352">
                <a:moveTo>
                  <a:pt x="0" y="0"/>
                </a:moveTo>
                <a:lnTo>
                  <a:pt x="15411352" y="0"/>
                </a:lnTo>
                <a:lnTo>
                  <a:pt x="15411352" y="15411352"/>
                </a:lnTo>
                <a:lnTo>
                  <a:pt x="0" y="154113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3153041" y="-5621027"/>
            <a:ext cx="10764527" cy="1076452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2846538" y="-5621027"/>
            <a:ext cx="9531646" cy="9531646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255065" y="5604052"/>
            <a:ext cx="10399065" cy="10399065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533020" y="4297363"/>
            <a:ext cx="13221960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AI &amp; Detection Deep Dive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80419" y="-4128160"/>
            <a:ext cx="11165322" cy="1116532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486891" y="-2532160"/>
            <a:ext cx="7333269" cy="733326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86404" y="-1532647"/>
            <a:ext cx="5334243" cy="533424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84478" y="3875992"/>
            <a:ext cx="7984903" cy="6411008"/>
            <a:chOff x="0" y="0"/>
            <a:chExt cx="7467600" cy="599567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467600" cy="4513580"/>
            </a:xfrm>
            <a:custGeom>
              <a:avLst/>
              <a:gdLst/>
              <a:ahLst/>
              <a:cxnLst/>
              <a:rect l="l" t="t" r="r" b="b"/>
              <a:pathLst>
                <a:path w="7467600" h="4513580">
                  <a:moveTo>
                    <a:pt x="7127240" y="0"/>
                  </a:moveTo>
                  <a:lnTo>
                    <a:pt x="340360" y="0"/>
                  </a:lnTo>
                  <a:cubicBezTo>
                    <a:pt x="152400" y="0"/>
                    <a:pt x="0" y="152400"/>
                    <a:pt x="0" y="340360"/>
                  </a:cubicBezTo>
                  <a:lnTo>
                    <a:pt x="0" y="4513580"/>
                  </a:lnTo>
                  <a:lnTo>
                    <a:pt x="7467600" y="4513580"/>
                  </a:lnTo>
                  <a:lnTo>
                    <a:pt x="7467600" y="340360"/>
                  </a:lnTo>
                  <a:cubicBezTo>
                    <a:pt x="7467600" y="152400"/>
                    <a:pt x="7315200" y="0"/>
                    <a:pt x="7127240" y="0"/>
                  </a:cubicBezTo>
                  <a:close/>
                  <a:moveTo>
                    <a:pt x="7142480" y="4188460"/>
                  </a:moveTo>
                  <a:lnTo>
                    <a:pt x="314961" y="4188460"/>
                  </a:lnTo>
                  <a:lnTo>
                    <a:pt x="314961" y="353060"/>
                  </a:lnTo>
                  <a:lnTo>
                    <a:pt x="7142480" y="353060"/>
                  </a:lnTo>
                  <a:lnTo>
                    <a:pt x="7142480" y="41884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4514850"/>
              <a:ext cx="7467600" cy="695960"/>
            </a:xfrm>
            <a:custGeom>
              <a:avLst/>
              <a:gdLst/>
              <a:ahLst/>
              <a:cxnLst/>
              <a:rect l="l" t="t" r="r" b="b"/>
              <a:pathLst>
                <a:path w="7467600" h="695960">
                  <a:moveTo>
                    <a:pt x="0" y="355600"/>
                  </a:moveTo>
                  <a:cubicBezTo>
                    <a:pt x="0" y="543560"/>
                    <a:pt x="152400" y="695960"/>
                    <a:pt x="340360" y="695960"/>
                  </a:cubicBezTo>
                  <a:lnTo>
                    <a:pt x="7127240" y="695960"/>
                  </a:lnTo>
                  <a:cubicBezTo>
                    <a:pt x="7315200" y="695960"/>
                    <a:pt x="7467600" y="543560"/>
                    <a:pt x="7467600" y="355600"/>
                  </a:cubicBezTo>
                  <a:lnTo>
                    <a:pt x="7467600" y="0"/>
                  </a:lnTo>
                  <a:lnTo>
                    <a:pt x="0" y="0"/>
                  </a:lnTo>
                  <a:lnTo>
                    <a:pt x="0" y="35560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2429510" y="5210810"/>
              <a:ext cx="2606040" cy="791210"/>
            </a:xfrm>
            <a:custGeom>
              <a:avLst/>
              <a:gdLst/>
              <a:ahLst/>
              <a:cxnLst/>
              <a:rect l="l" t="t" r="r" b="b"/>
              <a:pathLst>
                <a:path w="2606040" h="791210">
                  <a:moveTo>
                    <a:pt x="1258570" y="0"/>
                  </a:moveTo>
                  <a:lnTo>
                    <a:pt x="453390" y="0"/>
                  </a:lnTo>
                  <a:cubicBezTo>
                    <a:pt x="453390" y="0"/>
                    <a:pt x="429260" y="370840"/>
                    <a:pt x="403860" y="525780"/>
                  </a:cubicBezTo>
                  <a:cubicBezTo>
                    <a:pt x="359410" y="791210"/>
                    <a:pt x="87630" y="706120"/>
                    <a:pt x="10160" y="762000"/>
                  </a:cubicBezTo>
                  <a:cubicBezTo>
                    <a:pt x="0" y="769620"/>
                    <a:pt x="5080" y="786130"/>
                    <a:pt x="17780" y="786130"/>
                  </a:cubicBezTo>
                  <a:lnTo>
                    <a:pt x="2588260" y="786130"/>
                  </a:lnTo>
                  <a:cubicBezTo>
                    <a:pt x="2600960" y="786130"/>
                    <a:pt x="2606040" y="769620"/>
                    <a:pt x="2595880" y="762000"/>
                  </a:cubicBezTo>
                  <a:cubicBezTo>
                    <a:pt x="2518410" y="706120"/>
                    <a:pt x="2246630" y="791210"/>
                    <a:pt x="2202180" y="525780"/>
                  </a:cubicBezTo>
                  <a:cubicBezTo>
                    <a:pt x="2176780" y="370840"/>
                    <a:pt x="2152650" y="0"/>
                    <a:pt x="2152650" y="0"/>
                  </a:cubicBezTo>
                  <a:lnTo>
                    <a:pt x="1258570" y="0"/>
                  </a:lnTo>
                  <a:close/>
                </a:path>
              </a:pathLst>
            </a:custGeom>
            <a:solidFill>
              <a:srgbClr val="BBBBB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314960" y="353060"/>
              <a:ext cx="6827520" cy="3835400"/>
            </a:xfrm>
            <a:custGeom>
              <a:avLst/>
              <a:gdLst/>
              <a:ahLst/>
              <a:cxnLst/>
              <a:rect l="l" t="t" r="r" b="b"/>
              <a:pathLst>
                <a:path w="6827520" h="3835400">
                  <a:moveTo>
                    <a:pt x="0" y="0"/>
                  </a:moveTo>
                  <a:lnTo>
                    <a:pt x="6827520" y="0"/>
                  </a:lnTo>
                  <a:lnTo>
                    <a:pt x="6827520" y="3835400"/>
                  </a:lnTo>
                  <a:lnTo>
                    <a:pt x="0" y="3835400"/>
                  </a:lnTo>
                  <a:close/>
                </a:path>
              </a:pathLst>
            </a:custGeom>
            <a:blipFill>
              <a:blip r:embed="rId2"/>
              <a:stretch>
                <a:fillRect l="-13146" r="-1380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8069381" y="1819278"/>
            <a:ext cx="10218619" cy="1210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80"/>
              </a:lnSpc>
            </a:pPr>
            <a:r>
              <a:rPr lang="en-US" sz="67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Pose Detection Science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69381" y="3343275"/>
            <a:ext cx="9993518" cy="7477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Landmark Precision: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MediaPipe maps 33 points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(e.g., ear tragus, shoulder acromion)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 to calculate angles.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Example: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Forward head posture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= Ear aligned ahead of shoulder.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Algorithm Logic: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Neck angle: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Calculated via ear-shoulder-hip vector.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Shoulder imbalance: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Measures elevation difference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(e.g., left vs. right).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48068" y="6436469"/>
            <a:ext cx="8683043" cy="4637799"/>
          </a:xfrm>
          <a:custGeom>
            <a:avLst/>
            <a:gdLst/>
            <a:ahLst/>
            <a:cxnLst/>
            <a:rect l="l" t="t" r="r" b="b"/>
            <a:pathLst>
              <a:path w="8683043" h="4637799">
                <a:moveTo>
                  <a:pt x="0" y="0"/>
                </a:moveTo>
                <a:lnTo>
                  <a:pt x="8683042" y="0"/>
                </a:lnTo>
                <a:lnTo>
                  <a:pt x="8683042" y="4637799"/>
                </a:lnTo>
                <a:lnTo>
                  <a:pt x="0" y="4637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7118024" y="-4337083"/>
            <a:ext cx="15411352" cy="15411352"/>
          </a:xfrm>
          <a:custGeom>
            <a:avLst/>
            <a:gdLst/>
            <a:ahLst/>
            <a:cxnLst/>
            <a:rect l="l" t="t" r="r" b="b"/>
            <a:pathLst>
              <a:path w="15411352" h="15411352">
                <a:moveTo>
                  <a:pt x="0" y="0"/>
                </a:moveTo>
                <a:lnTo>
                  <a:pt x="15411352" y="0"/>
                </a:lnTo>
                <a:lnTo>
                  <a:pt x="15411352" y="15411351"/>
                </a:lnTo>
                <a:lnTo>
                  <a:pt x="0" y="154113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3153041" y="-5621027"/>
            <a:ext cx="10764527" cy="10764527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-2846538" y="-5621027"/>
            <a:ext cx="9531646" cy="9531646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-1255065" y="5604052"/>
            <a:ext cx="10399065" cy="10399065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28700" y="1656924"/>
            <a:ext cx="9545866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Alert System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3411843"/>
            <a:ext cx="13968914" cy="5876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Tiered Feedback: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Visual:</a:t>
            </a: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UI turns from green → yellow → red as posture worsens.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Haptic:</a:t>
            </a: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Custom vibration patterns (e.g., 3 pulses = "Emergency slouch!").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Notifications:</a:t>
            </a: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"Your head tilt exceeded 20° for 15 sec – reset now!"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User Customization: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Disable alerts during meetings.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Adjust time thresholds (1–30 sec).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6097" y="7744641"/>
            <a:ext cx="17215806" cy="945908"/>
            <a:chOff x="0" y="0"/>
            <a:chExt cx="4534204" cy="2491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534204" cy="249128"/>
            </a:xfrm>
            <a:custGeom>
              <a:avLst/>
              <a:gdLst/>
              <a:ahLst/>
              <a:cxnLst/>
              <a:rect l="l" t="t" r="r" b="b"/>
              <a:pathLst>
                <a:path w="4534204" h="249128">
                  <a:moveTo>
                    <a:pt x="13941" y="0"/>
                  </a:moveTo>
                  <a:lnTo>
                    <a:pt x="4520264" y="0"/>
                  </a:lnTo>
                  <a:cubicBezTo>
                    <a:pt x="4527963" y="0"/>
                    <a:pt x="4534204" y="6241"/>
                    <a:pt x="4534204" y="13941"/>
                  </a:cubicBezTo>
                  <a:lnTo>
                    <a:pt x="4534204" y="235187"/>
                  </a:lnTo>
                  <a:cubicBezTo>
                    <a:pt x="4534204" y="242887"/>
                    <a:pt x="4527963" y="249128"/>
                    <a:pt x="4520264" y="249128"/>
                  </a:cubicBezTo>
                  <a:lnTo>
                    <a:pt x="13941" y="249128"/>
                  </a:lnTo>
                  <a:cubicBezTo>
                    <a:pt x="6241" y="249128"/>
                    <a:pt x="0" y="242887"/>
                    <a:pt x="0" y="235187"/>
                  </a:cubicBezTo>
                  <a:lnTo>
                    <a:pt x="0" y="13941"/>
                  </a:lnTo>
                  <a:cubicBezTo>
                    <a:pt x="0" y="6241"/>
                    <a:pt x="6241" y="0"/>
                    <a:pt x="1394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534204" cy="2872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775877" y="3207105"/>
            <a:ext cx="12102391" cy="1210239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425414" y="4856641"/>
            <a:ext cx="8803317" cy="88033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2206998"/>
            <a:ext cx="14674085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Performance Optimizations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4077516"/>
            <a:ext cx="13968914" cy="320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Battery Efficiency: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GPU-accelerated MediaPipe → 12% battery/hour (vs. 20% for CPU).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Accuracy Trade-offs: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Heavy model = 95% accuracy but needs mid-range+ phones.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75268" y="7846334"/>
            <a:ext cx="16719065" cy="617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849"/>
              </a:lnSpc>
            </a:pPr>
            <a:r>
              <a:rPr lang="en-US" sz="3464" b="1" i="1">
                <a:solidFill>
                  <a:srgbClr val="F2EA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"How does this tech feel in daily life? Let’s walk through the user journey."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8324" y="-2562176"/>
            <a:ext cx="15411352" cy="15411352"/>
          </a:xfrm>
          <a:custGeom>
            <a:avLst/>
            <a:gdLst/>
            <a:ahLst/>
            <a:cxnLst/>
            <a:rect l="l" t="t" r="r" b="b"/>
            <a:pathLst>
              <a:path w="15411352" h="15411352">
                <a:moveTo>
                  <a:pt x="0" y="0"/>
                </a:moveTo>
                <a:lnTo>
                  <a:pt x="15411352" y="0"/>
                </a:lnTo>
                <a:lnTo>
                  <a:pt x="15411352" y="15411352"/>
                </a:lnTo>
                <a:lnTo>
                  <a:pt x="0" y="154113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3153041" y="-5621027"/>
            <a:ext cx="10764527" cy="1076452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2846538" y="-5621027"/>
            <a:ext cx="9531646" cy="9531646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255065" y="5604052"/>
            <a:ext cx="10399065" cy="10399065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533020" y="4297363"/>
            <a:ext cx="13221960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User Journey &amp; Features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987091" y="761123"/>
            <a:ext cx="13131091" cy="13131091"/>
          </a:xfrm>
          <a:custGeom>
            <a:avLst/>
            <a:gdLst/>
            <a:ahLst/>
            <a:cxnLst/>
            <a:rect l="l" t="t" r="r" b="b"/>
            <a:pathLst>
              <a:path w="13131091" h="13131091">
                <a:moveTo>
                  <a:pt x="0" y="0"/>
                </a:moveTo>
                <a:lnTo>
                  <a:pt x="13131091" y="0"/>
                </a:lnTo>
                <a:lnTo>
                  <a:pt x="13131091" y="13131091"/>
                </a:lnTo>
                <a:lnTo>
                  <a:pt x="0" y="13131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0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1208105" y="-5372097"/>
            <a:ext cx="12102391" cy="1210239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857641" y="-3722560"/>
            <a:ext cx="8803317" cy="880331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704917"/>
            <a:ext cx="13378364" cy="2498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</a:pPr>
            <a:r>
              <a:rPr lang="en-US" sz="7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Setup &amp; Live Monitoring Demo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4393784"/>
            <a:ext cx="11626351" cy="534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Step-by-Step Onboarding: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Grant camera permission.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Select mode (Upper Body or Spine).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Calibrate baseline posture (optional).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Real-Time Features: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Skeleton overlay with angle readouts (e.g., "Neck: 18°").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Pause/resume tracking for privacy.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Customization: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Dark mode, alert tones, skeleton visibility toggle.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2857641" y="227828"/>
            <a:ext cx="4968658" cy="9831343"/>
            <a:chOff x="0" y="0"/>
            <a:chExt cx="2620010" cy="5184140"/>
          </a:xfrm>
        </p:grpSpPr>
        <p:sp>
          <p:nvSpPr>
            <p:cNvPr id="16" name="Freeform 16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85420" y="156210"/>
              <a:ext cx="2251710" cy="4876800"/>
            </a:xfrm>
            <a:custGeom>
              <a:avLst/>
              <a:gdLst/>
              <a:ahLst/>
              <a:cxnLst/>
              <a:rect l="l" t="t" r="r" b="b"/>
              <a:pathLst>
                <a:path w="2251710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629" r="-6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78312" y="187909"/>
              <a:ext cx="66636" cy="63602"/>
            </a:xfrm>
            <a:custGeom>
              <a:avLst/>
              <a:gdLst/>
              <a:ahLst/>
              <a:cxnLst/>
              <a:rect l="l" t="t" r="r" b="b"/>
              <a:pathLst>
                <a:path w="66636" h="63602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90319" y="7642164"/>
            <a:ext cx="12771116" cy="1075895"/>
            <a:chOff x="0" y="0"/>
            <a:chExt cx="2957205" cy="2491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957205" cy="249128"/>
            </a:xfrm>
            <a:custGeom>
              <a:avLst/>
              <a:gdLst/>
              <a:ahLst/>
              <a:cxnLst/>
              <a:rect l="l" t="t" r="r" b="b"/>
              <a:pathLst>
                <a:path w="2957205" h="249128">
                  <a:moveTo>
                    <a:pt x="18792" y="0"/>
                  </a:moveTo>
                  <a:lnTo>
                    <a:pt x="2938412" y="0"/>
                  </a:lnTo>
                  <a:cubicBezTo>
                    <a:pt x="2948791" y="0"/>
                    <a:pt x="2957205" y="8414"/>
                    <a:pt x="2957205" y="18792"/>
                  </a:cubicBezTo>
                  <a:lnTo>
                    <a:pt x="2957205" y="230336"/>
                  </a:lnTo>
                  <a:cubicBezTo>
                    <a:pt x="2957205" y="235320"/>
                    <a:pt x="2955225" y="240100"/>
                    <a:pt x="2951700" y="243624"/>
                  </a:cubicBezTo>
                  <a:cubicBezTo>
                    <a:pt x="2948176" y="247148"/>
                    <a:pt x="2943396" y="249128"/>
                    <a:pt x="2938412" y="249128"/>
                  </a:cubicBezTo>
                  <a:lnTo>
                    <a:pt x="18792" y="249128"/>
                  </a:lnTo>
                  <a:cubicBezTo>
                    <a:pt x="13808" y="249128"/>
                    <a:pt x="9028" y="247148"/>
                    <a:pt x="5504" y="243624"/>
                  </a:cubicBezTo>
                  <a:cubicBezTo>
                    <a:pt x="1980" y="240100"/>
                    <a:pt x="0" y="235320"/>
                    <a:pt x="0" y="230336"/>
                  </a:cubicBezTo>
                  <a:lnTo>
                    <a:pt x="0" y="18792"/>
                  </a:lnTo>
                  <a:cubicBezTo>
                    <a:pt x="0" y="13808"/>
                    <a:pt x="1980" y="9028"/>
                    <a:pt x="5504" y="5504"/>
                  </a:cubicBezTo>
                  <a:cubicBezTo>
                    <a:pt x="9028" y="1980"/>
                    <a:pt x="13808" y="0"/>
                    <a:pt x="18792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957205" cy="2872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775877" y="3207105"/>
            <a:ext cx="12102391" cy="1210239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425414" y="4856641"/>
            <a:ext cx="8803317" cy="88033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2206998"/>
            <a:ext cx="7560912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Health Impact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71130" y="4029075"/>
            <a:ext cx="14846806" cy="2143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Clinical Backing: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Study: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Real-time feedback improves posture awareness by 4x (NIH).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User testing: 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72% reported less neck pain after 2 weeks.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776099" y="7751872"/>
            <a:ext cx="12231716" cy="708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516"/>
              </a:lnSpc>
            </a:pPr>
            <a:r>
              <a:rPr lang="en-US" sz="3940" b="1" i="1">
                <a:solidFill>
                  <a:srgbClr val="F2EA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"Who needs this most? Let’s talk target users."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8324" y="-2562176"/>
            <a:ext cx="15411352" cy="15411352"/>
          </a:xfrm>
          <a:custGeom>
            <a:avLst/>
            <a:gdLst/>
            <a:ahLst/>
            <a:cxnLst/>
            <a:rect l="l" t="t" r="r" b="b"/>
            <a:pathLst>
              <a:path w="15411352" h="15411352">
                <a:moveTo>
                  <a:pt x="0" y="0"/>
                </a:moveTo>
                <a:lnTo>
                  <a:pt x="15411352" y="0"/>
                </a:lnTo>
                <a:lnTo>
                  <a:pt x="15411352" y="15411352"/>
                </a:lnTo>
                <a:lnTo>
                  <a:pt x="0" y="154113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3153041" y="-5621027"/>
            <a:ext cx="10764527" cy="1076452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2846538" y="-5621027"/>
            <a:ext cx="9531646" cy="9531646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255065" y="5604052"/>
            <a:ext cx="10399065" cy="10399065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533020" y="4297363"/>
            <a:ext cx="13221960" cy="4292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Users &amp; Future Roadmap</a:t>
            </a:r>
          </a:p>
          <a:p>
            <a:pPr algn="ctr">
              <a:lnSpc>
                <a:spcPts val="11200"/>
              </a:lnSpc>
            </a:pPr>
            <a:endParaRPr lang="en-US" sz="8000" b="1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3245376"/>
            <a:ext cx="11165322" cy="1116532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486891" y="-2532160"/>
            <a:ext cx="7333269" cy="733326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86404" y="-1532647"/>
            <a:ext cx="5334243" cy="533424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980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71130" y="1949343"/>
            <a:ext cx="14540546" cy="2401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80"/>
              </a:lnSpc>
            </a:pPr>
            <a:r>
              <a:rPr lang="en-US" sz="67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Users &amp; Future Roadmap</a:t>
            </a:r>
          </a:p>
          <a:p>
            <a:pPr algn="l">
              <a:lnSpc>
                <a:spcPts val="9380"/>
              </a:lnSpc>
            </a:pPr>
            <a:endParaRPr lang="en-US" sz="6700" b="1">
              <a:solidFill>
                <a:srgbClr val="081269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871130" y="3400731"/>
            <a:ext cx="9228177" cy="5343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Primary Users: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Remote workers: </a:t>
            </a:r>
          </a:p>
          <a:p>
            <a:pPr algn="just">
              <a:lnSpc>
                <a:spcPts val="4200"/>
              </a:lnSpc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    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68% report back pain (Owl Labs survey).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Gamers/streamers: </a:t>
            </a:r>
          </a:p>
          <a:p>
            <a:pPr algn="just">
              <a:lnSpc>
                <a:spcPts val="4200"/>
              </a:lnSpc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    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High screen time + static posture.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Office workers:</a:t>
            </a:r>
          </a:p>
          <a:p>
            <a:pPr algn="just">
              <a:lnSpc>
                <a:spcPts val="4200"/>
              </a:lnSpc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    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an average of 30-hour office shifts </a:t>
            </a:r>
          </a:p>
          <a:p>
            <a:pPr algn="just">
              <a:lnSpc>
                <a:spcPts val="4200"/>
              </a:lnSpc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      per week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10035264" y="3801596"/>
            <a:ext cx="7973386" cy="6401761"/>
            <a:chOff x="0" y="0"/>
            <a:chExt cx="7467600" cy="59956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467600" cy="4513580"/>
            </a:xfrm>
            <a:custGeom>
              <a:avLst/>
              <a:gdLst/>
              <a:ahLst/>
              <a:cxnLst/>
              <a:rect l="l" t="t" r="r" b="b"/>
              <a:pathLst>
                <a:path w="7467600" h="4513580">
                  <a:moveTo>
                    <a:pt x="7127240" y="0"/>
                  </a:moveTo>
                  <a:lnTo>
                    <a:pt x="340360" y="0"/>
                  </a:lnTo>
                  <a:cubicBezTo>
                    <a:pt x="152400" y="0"/>
                    <a:pt x="0" y="152400"/>
                    <a:pt x="0" y="340360"/>
                  </a:cubicBezTo>
                  <a:lnTo>
                    <a:pt x="0" y="4513580"/>
                  </a:lnTo>
                  <a:lnTo>
                    <a:pt x="7467600" y="4513580"/>
                  </a:lnTo>
                  <a:lnTo>
                    <a:pt x="7467600" y="340360"/>
                  </a:lnTo>
                  <a:cubicBezTo>
                    <a:pt x="7467600" y="152400"/>
                    <a:pt x="7315200" y="0"/>
                    <a:pt x="7127240" y="0"/>
                  </a:cubicBezTo>
                  <a:close/>
                  <a:moveTo>
                    <a:pt x="7142480" y="4188460"/>
                  </a:moveTo>
                  <a:lnTo>
                    <a:pt x="314961" y="4188460"/>
                  </a:lnTo>
                  <a:lnTo>
                    <a:pt x="314961" y="353060"/>
                  </a:lnTo>
                  <a:lnTo>
                    <a:pt x="7142480" y="353060"/>
                  </a:lnTo>
                  <a:lnTo>
                    <a:pt x="7142480" y="41884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4514850"/>
              <a:ext cx="7467600" cy="695960"/>
            </a:xfrm>
            <a:custGeom>
              <a:avLst/>
              <a:gdLst/>
              <a:ahLst/>
              <a:cxnLst/>
              <a:rect l="l" t="t" r="r" b="b"/>
              <a:pathLst>
                <a:path w="7467600" h="695960">
                  <a:moveTo>
                    <a:pt x="0" y="355600"/>
                  </a:moveTo>
                  <a:cubicBezTo>
                    <a:pt x="0" y="543560"/>
                    <a:pt x="152400" y="695960"/>
                    <a:pt x="340360" y="695960"/>
                  </a:cubicBezTo>
                  <a:lnTo>
                    <a:pt x="7127240" y="695960"/>
                  </a:lnTo>
                  <a:cubicBezTo>
                    <a:pt x="7315200" y="695960"/>
                    <a:pt x="7467600" y="543560"/>
                    <a:pt x="7467600" y="355600"/>
                  </a:cubicBezTo>
                  <a:lnTo>
                    <a:pt x="7467600" y="0"/>
                  </a:lnTo>
                  <a:lnTo>
                    <a:pt x="0" y="0"/>
                  </a:lnTo>
                  <a:lnTo>
                    <a:pt x="0" y="35560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2429510" y="5210810"/>
              <a:ext cx="2606040" cy="791210"/>
            </a:xfrm>
            <a:custGeom>
              <a:avLst/>
              <a:gdLst/>
              <a:ahLst/>
              <a:cxnLst/>
              <a:rect l="l" t="t" r="r" b="b"/>
              <a:pathLst>
                <a:path w="2606040" h="791210">
                  <a:moveTo>
                    <a:pt x="1258570" y="0"/>
                  </a:moveTo>
                  <a:lnTo>
                    <a:pt x="453390" y="0"/>
                  </a:lnTo>
                  <a:cubicBezTo>
                    <a:pt x="453390" y="0"/>
                    <a:pt x="429260" y="370840"/>
                    <a:pt x="403860" y="525780"/>
                  </a:cubicBezTo>
                  <a:cubicBezTo>
                    <a:pt x="359410" y="791210"/>
                    <a:pt x="87630" y="706120"/>
                    <a:pt x="10160" y="762000"/>
                  </a:cubicBezTo>
                  <a:cubicBezTo>
                    <a:pt x="0" y="769620"/>
                    <a:pt x="5080" y="786130"/>
                    <a:pt x="17780" y="786130"/>
                  </a:cubicBezTo>
                  <a:lnTo>
                    <a:pt x="2588260" y="786130"/>
                  </a:lnTo>
                  <a:cubicBezTo>
                    <a:pt x="2600960" y="786130"/>
                    <a:pt x="2606040" y="769620"/>
                    <a:pt x="2595880" y="762000"/>
                  </a:cubicBezTo>
                  <a:cubicBezTo>
                    <a:pt x="2518410" y="706120"/>
                    <a:pt x="2246630" y="791210"/>
                    <a:pt x="2202180" y="525780"/>
                  </a:cubicBezTo>
                  <a:cubicBezTo>
                    <a:pt x="2176780" y="370840"/>
                    <a:pt x="2152650" y="0"/>
                    <a:pt x="2152650" y="0"/>
                  </a:cubicBezTo>
                  <a:lnTo>
                    <a:pt x="1258570" y="0"/>
                  </a:lnTo>
                  <a:close/>
                </a:path>
              </a:pathLst>
            </a:custGeom>
            <a:solidFill>
              <a:srgbClr val="BBBBB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314960" y="353060"/>
              <a:ext cx="6827520" cy="3835400"/>
            </a:xfrm>
            <a:custGeom>
              <a:avLst/>
              <a:gdLst/>
              <a:ahLst/>
              <a:cxnLst/>
              <a:rect l="l" t="t" r="r" b="b"/>
              <a:pathLst>
                <a:path w="6827520" h="3835400">
                  <a:moveTo>
                    <a:pt x="0" y="0"/>
                  </a:moveTo>
                  <a:lnTo>
                    <a:pt x="6827520" y="0"/>
                  </a:lnTo>
                  <a:lnTo>
                    <a:pt x="6827520" y="3835400"/>
                  </a:lnTo>
                  <a:lnTo>
                    <a:pt x="0" y="3835400"/>
                  </a:lnTo>
                  <a:close/>
                </a:path>
              </a:pathLst>
            </a:custGeom>
            <a:blipFill>
              <a:blip r:embed="rId2"/>
              <a:stretch>
                <a:fillRect t="-66" b="-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40779" y="8475035"/>
            <a:ext cx="15629891" cy="1075895"/>
            <a:chOff x="0" y="0"/>
            <a:chExt cx="3619166" cy="2491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19166" cy="249128"/>
            </a:xfrm>
            <a:custGeom>
              <a:avLst/>
              <a:gdLst/>
              <a:ahLst/>
              <a:cxnLst/>
              <a:rect l="l" t="t" r="r" b="b"/>
              <a:pathLst>
                <a:path w="3619166" h="249128">
                  <a:moveTo>
                    <a:pt x="15355" y="0"/>
                  </a:moveTo>
                  <a:lnTo>
                    <a:pt x="3603810" y="0"/>
                  </a:lnTo>
                  <a:cubicBezTo>
                    <a:pt x="3612291" y="0"/>
                    <a:pt x="3619166" y="6875"/>
                    <a:pt x="3619166" y="15355"/>
                  </a:cubicBezTo>
                  <a:lnTo>
                    <a:pt x="3619166" y="233773"/>
                  </a:lnTo>
                  <a:cubicBezTo>
                    <a:pt x="3619166" y="242253"/>
                    <a:pt x="3612291" y="249128"/>
                    <a:pt x="3603810" y="249128"/>
                  </a:cubicBezTo>
                  <a:lnTo>
                    <a:pt x="15355" y="249128"/>
                  </a:lnTo>
                  <a:cubicBezTo>
                    <a:pt x="6875" y="249128"/>
                    <a:pt x="0" y="242253"/>
                    <a:pt x="0" y="233773"/>
                  </a:cubicBezTo>
                  <a:lnTo>
                    <a:pt x="0" y="15355"/>
                  </a:lnTo>
                  <a:cubicBezTo>
                    <a:pt x="0" y="6875"/>
                    <a:pt x="6875" y="0"/>
                    <a:pt x="15355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619166" cy="2872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775877" y="3207105"/>
            <a:ext cx="12102391" cy="1210239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425414" y="4856641"/>
            <a:ext cx="8803317" cy="88033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2206998"/>
            <a:ext cx="9159125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Future Roadmap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71130" y="4029075"/>
            <a:ext cx="14846806" cy="320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6-Month Goals: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Posture history dashboard (trends, daily scores).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Google Fit integration to correlate posture with activity.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12-Month Goals: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AR mode: </a:t>
            </a:r>
            <a:r>
              <a:rPr lang="en-US" sz="300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Overlay posture tips in real-world view.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751817" y="8642896"/>
            <a:ext cx="15007815" cy="615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06"/>
              </a:lnSpc>
            </a:pPr>
            <a:r>
              <a:rPr lang="en-US" sz="3362" b="1" i="1">
                <a:solidFill>
                  <a:srgbClr val="F2EAFF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"We’re not just building an app—we’re fixing a global health issue."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8324" y="-2562176"/>
            <a:ext cx="15411352" cy="15411352"/>
          </a:xfrm>
          <a:custGeom>
            <a:avLst/>
            <a:gdLst/>
            <a:ahLst/>
            <a:cxnLst/>
            <a:rect l="l" t="t" r="r" b="b"/>
            <a:pathLst>
              <a:path w="15411352" h="15411352">
                <a:moveTo>
                  <a:pt x="0" y="0"/>
                </a:moveTo>
                <a:lnTo>
                  <a:pt x="15411352" y="0"/>
                </a:lnTo>
                <a:lnTo>
                  <a:pt x="15411352" y="15411352"/>
                </a:lnTo>
                <a:lnTo>
                  <a:pt x="0" y="154113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-3153041" y="-5621027"/>
            <a:ext cx="10764527" cy="1076452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2846538" y="-5621027"/>
            <a:ext cx="9531646" cy="9531646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255065" y="5604052"/>
            <a:ext cx="10399065" cy="10399065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533020" y="4297363"/>
            <a:ext cx="13221960" cy="4292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 &amp; Call to Action</a:t>
            </a:r>
          </a:p>
          <a:p>
            <a:pPr algn="ctr">
              <a:lnSpc>
                <a:spcPts val="11200"/>
              </a:lnSpc>
            </a:pPr>
            <a:endParaRPr lang="en-US" sz="8000" b="1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C7C9FF">
                    <a:alpha val="69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987091" y="761123"/>
            <a:ext cx="13131091" cy="13131091"/>
          </a:xfrm>
          <a:custGeom>
            <a:avLst/>
            <a:gdLst/>
            <a:ahLst/>
            <a:cxnLst/>
            <a:rect l="l" t="t" r="r" b="b"/>
            <a:pathLst>
              <a:path w="13131091" h="13131091">
                <a:moveTo>
                  <a:pt x="0" y="0"/>
                </a:moveTo>
                <a:lnTo>
                  <a:pt x="13131091" y="0"/>
                </a:lnTo>
                <a:lnTo>
                  <a:pt x="13131091" y="13131091"/>
                </a:lnTo>
                <a:lnTo>
                  <a:pt x="0" y="13131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0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1208105" y="-5372097"/>
            <a:ext cx="12102391" cy="1210239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857641" y="-3722560"/>
            <a:ext cx="8803317" cy="880331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666817"/>
            <a:ext cx="11397480" cy="1454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Why PostureTracker?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440834" y="679099"/>
            <a:ext cx="4385302" cy="775403"/>
            <a:chOff x="0" y="0"/>
            <a:chExt cx="1200079" cy="2121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00079" cy="212196"/>
            </a:xfrm>
            <a:custGeom>
              <a:avLst/>
              <a:gdLst/>
              <a:ahLst/>
              <a:cxnLst/>
              <a:rect l="l" t="t" r="r" b="b"/>
              <a:pathLst>
                <a:path w="1200079" h="212196">
                  <a:moveTo>
                    <a:pt x="65321" y="0"/>
                  </a:moveTo>
                  <a:lnTo>
                    <a:pt x="1134758" y="0"/>
                  </a:lnTo>
                  <a:cubicBezTo>
                    <a:pt x="1152082" y="0"/>
                    <a:pt x="1168697" y="6882"/>
                    <a:pt x="1180947" y="19132"/>
                  </a:cubicBezTo>
                  <a:cubicBezTo>
                    <a:pt x="1193197" y="31382"/>
                    <a:pt x="1200079" y="47997"/>
                    <a:pt x="1200079" y="65321"/>
                  </a:cubicBezTo>
                  <a:lnTo>
                    <a:pt x="1200079" y="146876"/>
                  </a:lnTo>
                  <a:cubicBezTo>
                    <a:pt x="1200079" y="182951"/>
                    <a:pt x="1170834" y="212196"/>
                    <a:pt x="1134758" y="212196"/>
                  </a:cubicBezTo>
                  <a:lnTo>
                    <a:pt x="65321" y="212196"/>
                  </a:lnTo>
                  <a:cubicBezTo>
                    <a:pt x="29245" y="212196"/>
                    <a:pt x="0" y="182951"/>
                    <a:pt x="0" y="146876"/>
                  </a:cubicBezTo>
                  <a:lnTo>
                    <a:pt x="0" y="65321"/>
                  </a:lnTo>
                  <a:cubicBezTo>
                    <a:pt x="0" y="29245"/>
                    <a:pt x="29245" y="0"/>
                    <a:pt x="65321" y="0"/>
                  </a:cubicBezTo>
                  <a:close/>
                </a:path>
              </a:pathLst>
            </a:custGeom>
            <a:solidFill>
              <a:srgbClr val="000C74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1200079" cy="2407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3482917"/>
            <a:ext cx="11626351" cy="481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Accessible: </a:t>
            </a:r>
          </a:p>
          <a:p>
            <a:pPr algn="just">
              <a:lnSpc>
                <a:spcPts val="4200"/>
              </a:lnSpc>
            </a:pPr>
            <a:r>
              <a:rPr lang="en-US" sz="3000" dirty="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       Free download (vs. $150 wearables).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Science-backed: </a:t>
            </a:r>
          </a:p>
          <a:p>
            <a:pPr algn="just">
              <a:lnSpc>
                <a:spcPts val="4200"/>
              </a:lnSpc>
            </a:pPr>
            <a:r>
              <a:rPr lang="en-US" sz="3000" b="1" dirty="0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</a:t>
            </a:r>
            <a:r>
              <a:rPr lang="en-US" sz="3000" dirty="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Algorithms peer-reviewed by physiotherapists.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 dirty="0">
                <a:solidFill>
                  <a:srgbClr val="000C74"/>
                </a:solidFill>
                <a:latin typeface="Poppins Bold"/>
                <a:ea typeface="Poppins Bold"/>
                <a:cs typeface="Poppins Bold"/>
                <a:sym typeface="Poppins Bold"/>
              </a:rPr>
              <a:t>Next Steps: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Join our beta waitlist (QR code).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 dirty="0">
                <a:solidFill>
                  <a:srgbClr val="000C74"/>
                </a:solidFill>
                <a:latin typeface="Poppins"/>
                <a:ea typeface="Poppins"/>
                <a:cs typeface="Poppins"/>
                <a:sym typeface="Poppins"/>
              </a:rPr>
              <a:t>Follow us for pain-prevention tips.</a:t>
            </a: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just">
              <a:lnSpc>
                <a:spcPts val="4200"/>
              </a:lnSpc>
            </a:pPr>
            <a:endParaRPr lang="en-US" sz="3000" dirty="0">
              <a:solidFill>
                <a:srgbClr val="000C7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FFF">
                <a:alpha val="100000"/>
              </a:srgbClr>
            </a:gs>
            <a:gs pos="100000">
              <a:srgbClr val="C7C9FF">
                <a:alpha val="69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987091" y="761123"/>
            <a:ext cx="13131091" cy="13131091"/>
          </a:xfrm>
          <a:custGeom>
            <a:avLst/>
            <a:gdLst/>
            <a:ahLst/>
            <a:cxnLst/>
            <a:rect l="l" t="t" r="r" b="b"/>
            <a:pathLst>
              <a:path w="13131091" h="13131091">
                <a:moveTo>
                  <a:pt x="0" y="0"/>
                </a:moveTo>
                <a:lnTo>
                  <a:pt x="13131091" y="0"/>
                </a:lnTo>
                <a:lnTo>
                  <a:pt x="13131091" y="13131091"/>
                </a:lnTo>
                <a:lnTo>
                  <a:pt x="0" y="13131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0999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1208105" y="-5372097"/>
            <a:ext cx="12102391" cy="1210239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857641" y="-3722560"/>
            <a:ext cx="8803317" cy="880331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C7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349663" y="1743375"/>
            <a:ext cx="4317858" cy="8543625"/>
            <a:chOff x="0" y="0"/>
            <a:chExt cx="2620010" cy="5184140"/>
          </a:xfrm>
        </p:grpSpPr>
        <p:sp>
          <p:nvSpPr>
            <p:cNvPr id="10" name="Freeform 1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5420" y="156210"/>
              <a:ext cx="2251710" cy="4876800"/>
            </a:xfrm>
            <a:custGeom>
              <a:avLst/>
              <a:gdLst/>
              <a:ahLst/>
              <a:cxnLst/>
              <a:rect l="l" t="t" r="r" b="b"/>
              <a:pathLst>
                <a:path w="2251710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629" r="-6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1578312" y="187909"/>
              <a:ext cx="66636" cy="63602"/>
            </a:xfrm>
            <a:custGeom>
              <a:avLst/>
              <a:gdLst/>
              <a:ahLst/>
              <a:cxnLst/>
              <a:rect l="l" t="t" r="r" b="b"/>
              <a:pathLst>
                <a:path w="66636" h="63602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4829446" y="1743375"/>
            <a:ext cx="4317858" cy="8543625"/>
            <a:chOff x="0" y="0"/>
            <a:chExt cx="2620010" cy="5184140"/>
          </a:xfrm>
        </p:grpSpPr>
        <p:sp>
          <p:nvSpPr>
            <p:cNvPr id="20" name="Freeform 2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85420" y="156210"/>
              <a:ext cx="2251710" cy="4876800"/>
            </a:xfrm>
            <a:custGeom>
              <a:avLst/>
              <a:gdLst/>
              <a:ahLst/>
              <a:cxnLst/>
              <a:rect l="l" t="t" r="r" b="b"/>
              <a:pathLst>
                <a:path w="2251710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592" r="-5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1578312" y="187909"/>
              <a:ext cx="66636" cy="63602"/>
            </a:xfrm>
            <a:custGeom>
              <a:avLst/>
              <a:gdLst/>
              <a:ahLst/>
              <a:cxnLst/>
              <a:rect l="l" t="t" r="r" b="b"/>
              <a:pathLst>
                <a:path w="66636" h="63602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>
            <a:grpSpLocks noChangeAspect="1"/>
          </p:cNvGrpSpPr>
          <p:nvPr/>
        </p:nvGrpSpPr>
        <p:grpSpPr>
          <a:xfrm>
            <a:off x="9309230" y="1743375"/>
            <a:ext cx="4317858" cy="8543625"/>
            <a:chOff x="0" y="0"/>
            <a:chExt cx="2620010" cy="5184140"/>
          </a:xfrm>
        </p:grpSpPr>
        <p:sp>
          <p:nvSpPr>
            <p:cNvPr id="30" name="Freeform 3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85420" y="156210"/>
              <a:ext cx="2251710" cy="4876800"/>
            </a:xfrm>
            <a:custGeom>
              <a:avLst/>
              <a:gdLst/>
              <a:ahLst/>
              <a:cxnLst/>
              <a:rect l="l" t="t" r="r" b="b"/>
              <a:pathLst>
                <a:path w="2251710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5"/>
              <a:stretch>
                <a:fillRect l="-629" r="-6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1578312" y="187909"/>
              <a:ext cx="66636" cy="63602"/>
            </a:xfrm>
            <a:custGeom>
              <a:avLst/>
              <a:gdLst/>
              <a:ahLst/>
              <a:cxnLst/>
              <a:rect l="l" t="t" r="r" b="b"/>
              <a:pathLst>
                <a:path w="66636" h="63602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" name="Group 39"/>
          <p:cNvGrpSpPr>
            <a:grpSpLocks noChangeAspect="1"/>
          </p:cNvGrpSpPr>
          <p:nvPr/>
        </p:nvGrpSpPr>
        <p:grpSpPr>
          <a:xfrm>
            <a:off x="13792318" y="1743375"/>
            <a:ext cx="4317858" cy="8543625"/>
            <a:chOff x="0" y="0"/>
            <a:chExt cx="2620010" cy="5184140"/>
          </a:xfrm>
        </p:grpSpPr>
        <p:sp>
          <p:nvSpPr>
            <p:cNvPr id="40" name="Freeform 40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185420" y="156210"/>
              <a:ext cx="2251710" cy="4876800"/>
            </a:xfrm>
            <a:custGeom>
              <a:avLst/>
              <a:gdLst/>
              <a:ahLst/>
              <a:cxnLst/>
              <a:rect l="l" t="t" r="r" b="b"/>
              <a:pathLst>
                <a:path w="2251710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6"/>
              <a:stretch>
                <a:fillRect t="-1377" b="-1377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2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3"/>
            <p:cNvSpPr/>
            <p:nvPr/>
          </p:nvSpPr>
          <p:spPr>
            <a:xfrm>
              <a:off x="1578312" y="187909"/>
              <a:ext cx="66636" cy="63602"/>
            </a:xfrm>
            <a:custGeom>
              <a:avLst/>
              <a:gdLst/>
              <a:ahLst/>
              <a:cxnLst/>
              <a:rect l="l" t="t" r="r" b="b"/>
              <a:pathLst>
                <a:path w="66636" h="63602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2E2E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8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555555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5270459" y="-51149"/>
            <a:ext cx="7975954" cy="1260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</a:pPr>
            <a:r>
              <a:rPr lang="en-US" sz="7000" b="1">
                <a:solidFill>
                  <a:srgbClr val="081269"/>
                </a:solidFill>
                <a:latin typeface="Poppins Bold"/>
                <a:ea typeface="Poppins Bold"/>
                <a:cs typeface="Poppins Bold"/>
                <a:sym typeface="Poppins Bold"/>
              </a:rPr>
              <a:t>App Screenshots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50358" y="774657"/>
            <a:ext cx="3322500" cy="474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45"/>
              </a:lnSpc>
            </a:pPr>
            <a:r>
              <a:rPr lang="en-US" sz="2675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PostureTracker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C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257802" y="1731134"/>
            <a:ext cx="13772395" cy="7527166"/>
            <a:chOff x="0" y="0"/>
            <a:chExt cx="3627298" cy="19824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627298" cy="1982463"/>
            </a:xfrm>
            <a:custGeom>
              <a:avLst/>
              <a:gdLst/>
              <a:ahLst/>
              <a:cxnLst/>
              <a:rect l="l" t="t" r="r" b="b"/>
              <a:pathLst>
                <a:path w="3627298" h="1982463">
                  <a:moveTo>
                    <a:pt x="17426" y="0"/>
                  </a:moveTo>
                  <a:lnTo>
                    <a:pt x="3609872" y="0"/>
                  </a:lnTo>
                  <a:cubicBezTo>
                    <a:pt x="3619496" y="0"/>
                    <a:pt x="3627298" y="7802"/>
                    <a:pt x="3627298" y="17426"/>
                  </a:cubicBezTo>
                  <a:lnTo>
                    <a:pt x="3627298" y="1965037"/>
                  </a:lnTo>
                  <a:cubicBezTo>
                    <a:pt x="3627298" y="1969659"/>
                    <a:pt x="3625462" y="1974092"/>
                    <a:pt x="3622194" y="1977360"/>
                  </a:cubicBezTo>
                  <a:cubicBezTo>
                    <a:pt x="3618926" y="1980628"/>
                    <a:pt x="3614493" y="1982463"/>
                    <a:pt x="3609872" y="1982463"/>
                  </a:cubicBezTo>
                  <a:lnTo>
                    <a:pt x="17426" y="1982463"/>
                  </a:lnTo>
                  <a:cubicBezTo>
                    <a:pt x="12804" y="1982463"/>
                    <a:pt x="8372" y="1980628"/>
                    <a:pt x="5104" y="1977360"/>
                  </a:cubicBezTo>
                  <a:cubicBezTo>
                    <a:pt x="1836" y="1974092"/>
                    <a:pt x="0" y="1969659"/>
                    <a:pt x="0" y="1965037"/>
                  </a:cubicBezTo>
                  <a:lnTo>
                    <a:pt x="0" y="17426"/>
                  </a:lnTo>
                  <a:cubicBezTo>
                    <a:pt x="0" y="12804"/>
                    <a:pt x="1836" y="8372"/>
                    <a:pt x="5104" y="5104"/>
                  </a:cubicBezTo>
                  <a:cubicBezTo>
                    <a:pt x="8372" y="1836"/>
                    <a:pt x="12804" y="0"/>
                    <a:pt x="17426" y="0"/>
                  </a:cubicBezTo>
                  <a:close/>
                </a:path>
              </a:pathLst>
            </a:custGeom>
            <a:solidFill>
              <a:srgbClr val="F2EA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627298" cy="2020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278122" y="2063179"/>
            <a:ext cx="11731755" cy="6863077"/>
          </a:xfrm>
          <a:custGeom>
            <a:avLst/>
            <a:gdLst/>
            <a:ahLst/>
            <a:cxnLst/>
            <a:rect l="l" t="t" r="r" b="b"/>
            <a:pathLst>
              <a:path w="11731755" h="6863077">
                <a:moveTo>
                  <a:pt x="0" y="0"/>
                </a:moveTo>
                <a:lnTo>
                  <a:pt x="11731756" y="0"/>
                </a:lnTo>
                <a:lnTo>
                  <a:pt x="11731756" y="6863076"/>
                </a:lnTo>
                <a:lnTo>
                  <a:pt x="0" y="68630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6892872" y="298452"/>
            <a:ext cx="4502256" cy="1260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</a:pPr>
            <a:r>
              <a:rPr lang="en-US" sz="7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Workflow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-2846538" y="-5621027"/>
            <a:ext cx="9531646" cy="9531646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1604678" y="-5621027"/>
            <a:ext cx="12039821" cy="12039821"/>
          </a:xfrm>
          <a:custGeom>
            <a:avLst/>
            <a:gdLst/>
            <a:ahLst/>
            <a:cxnLst/>
            <a:rect l="l" t="t" r="r" b="b"/>
            <a:pathLst>
              <a:path w="12039821" h="12039821">
                <a:moveTo>
                  <a:pt x="0" y="0"/>
                </a:moveTo>
                <a:lnTo>
                  <a:pt x="12039821" y="0"/>
                </a:lnTo>
                <a:lnTo>
                  <a:pt x="12039821" y="12039821"/>
                </a:lnTo>
                <a:lnTo>
                  <a:pt x="0" y="120398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1" name="Group 11"/>
          <p:cNvGrpSpPr/>
          <p:nvPr/>
        </p:nvGrpSpPr>
        <p:grpSpPr>
          <a:xfrm>
            <a:off x="-3153041" y="-5621027"/>
            <a:ext cx="10764527" cy="10764527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FFFFFF">
                      <a:alpha val="50000"/>
                    </a:srgbClr>
                  </a:gs>
                  <a:gs pos="100000">
                    <a:srgbClr val="C7C9FF">
                      <a:alpha val="17750"/>
                    </a:srgbClr>
                  </a:gs>
                </a:gsLst>
                <a:lin ang="27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</TotalTime>
  <Words>773</Words>
  <Application>Microsoft Office PowerPoint</Application>
  <PresentationFormat>Custom</PresentationFormat>
  <Paragraphs>147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Poppins Italics</vt:lpstr>
      <vt:lpstr>Arial</vt:lpstr>
      <vt:lpstr>Poppins</vt:lpstr>
      <vt:lpstr>Calibri</vt:lpstr>
      <vt:lpstr>Poppins Bold</vt:lpstr>
      <vt:lpstr>Poppins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PostureTracker</dc:title>
  <cp:lastModifiedBy>mohamed Rslan</cp:lastModifiedBy>
  <cp:revision>2</cp:revision>
  <dcterms:created xsi:type="dcterms:W3CDTF">2006-08-16T00:00:00Z</dcterms:created>
  <dcterms:modified xsi:type="dcterms:W3CDTF">2026-10-24T08:31:21Z</dcterms:modified>
  <dc:identifier>DAGmQj_umes</dc:identifier>
</cp:coreProperties>
</file>